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AAB1278-0E85-4A61-B0FA-B3EBCA8E187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7014E6CC-AA23-48EC-A27E-5A151E15E181}"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EDF48214-54F1-425E-950F-601895312FFD}"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C18A8271-97F2-45BF-8291-458B856CD9B9}"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0752D74A-F431-432D-AC6F-F2F82EC1007C}"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7AFF72C0-AB52-4133-83BE-1D999E01FC15}" type="slidenum">
              <a:t>&lt;#&gt;</a:t>
            </a:fld>
          </a:p>
        </p:txBody>
      </p:sp>
      <p:sp>
        <p:nvSpPr>
          <p:cNvPr id="5" name="PlaceHolder 4"/>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5CDCB161-7DC3-460D-90B3-F6C8AAE31EE5}"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34D3C425-AD3A-4529-BA24-43BEAC3CE323}"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F5E0BD74-8567-4409-91DB-BF61B7C82A16}"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6026BAA5-5B4D-4BF1-BB23-A40B009D88D7}" type="slidenum">
              <a:t>&lt;#&gt;</a:t>
            </a:fld>
          </a:p>
        </p:txBody>
      </p:sp>
      <p:sp>
        <p:nvSpPr>
          <p:cNvPr id="4" name="PlaceHolder 3"/>
          <p:cNvSpPr>
            <a:spLocks noGrp="1"/>
          </p:cNvSpPr>
          <p:nvPr>
            <p:ph type="dt" idx="28"/>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a:t>
            </a:r>
            <a:r>
              <a:rPr b="0" lang="en-US" sz="4400" spc="-1" strike="noStrike">
                <a:solidFill>
                  <a:srgbClr val="000000"/>
                </a:solidFill>
                <a:latin typeface="Arial"/>
              </a:rPr>
              <a:t>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 name="PlaceHolder 3"/>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B781D8D-D9B2-4B3C-A2F0-C7B0E4344E49}"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rot="5400000">
            <a:off x="7133400" y="1956240"/>
            <a:ext cx="5811480" cy="262872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8" name="PlaceHolder 2"/>
          <p:cNvSpPr>
            <a:spLocks noGrp="1"/>
          </p:cNvSpPr>
          <p:nvPr>
            <p:ph type="body"/>
          </p:nvPr>
        </p:nvSpPr>
        <p:spPr>
          <a:xfrm rot="5400000">
            <a:off x="1800000" y="-596160"/>
            <a:ext cx="5811480" cy="773388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B0013CEA-D653-4A81-8453-BCF364E05A9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rmAutofit/>
          </a:bodyPr>
          <a:p>
            <a:pPr indent="0">
              <a:buNone/>
            </a:pPr>
            <a:r>
              <a:rPr b="0" lang="en-US" sz="6000" spc="-1" strike="noStrike">
                <a:solidFill>
                  <a:srgbClr val="000000"/>
                </a:solidFill>
                <a:latin typeface="Arial"/>
              </a:rPr>
              <a:t>Click </a:t>
            </a:r>
            <a:r>
              <a:rPr b="0" lang="en-US" sz="6000" spc="-1" strike="noStrike">
                <a:solidFill>
                  <a:srgbClr val="000000"/>
                </a:solidFill>
                <a:latin typeface="Arial"/>
              </a:rPr>
              <a:t>to </a:t>
            </a:r>
            <a:r>
              <a:rPr b="0" lang="en-US" sz="6000" spc="-1" strike="noStrike">
                <a:solidFill>
                  <a:srgbClr val="000000"/>
                </a:solidFill>
                <a:latin typeface="Arial"/>
              </a:rPr>
              <a:t>edit </a:t>
            </a:r>
            <a:r>
              <a:rPr b="0" lang="en-US" sz="6000" spc="-1" strike="noStrike">
                <a:solidFill>
                  <a:srgbClr val="000000"/>
                </a:solidFill>
                <a:latin typeface="Arial"/>
              </a:rPr>
              <a:t>the </a:t>
            </a:r>
            <a:r>
              <a:rPr b="0" lang="en-US" sz="6000" spc="-1" strike="noStrike">
                <a:solidFill>
                  <a:srgbClr val="000000"/>
                </a:solidFill>
                <a:latin typeface="Arial"/>
              </a:rPr>
              <a:t>title </a:t>
            </a:r>
            <a:r>
              <a:rPr b="0" lang="en-US" sz="6000" spc="-1" strike="noStrike">
                <a:solidFill>
                  <a:srgbClr val="000000"/>
                </a:solidFill>
                <a:latin typeface="Arial"/>
              </a:rPr>
              <a:t>text </a:t>
            </a:r>
            <a:r>
              <a:rPr b="0" lang="en-US" sz="6000" spc="-1" strike="noStrike">
                <a:solidFill>
                  <a:srgbClr val="000000"/>
                </a:solidFill>
                <a:latin typeface="Arial"/>
              </a:rPr>
              <a:t>form</a:t>
            </a:r>
            <a:r>
              <a:rPr b="0" lang="en-US" sz="6000" spc="-1" strike="noStrike">
                <a:solidFill>
                  <a:srgbClr val="000000"/>
                </a:solidFill>
                <a:latin typeface="Arial"/>
              </a:rPr>
              <a:t>at</a:t>
            </a:r>
            <a:endParaRPr b="0" lang="en-US" sz="6000" spc="-1" strike="noStrike">
              <a:solidFill>
                <a:srgbClr val="000000"/>
              </a:solidFill>
              <a:latin typeface="Arial"/>
            </a:endParaRPr>
          </a:p>
        </p:txBody>
      </p:sp>
      <p:sp>
        <p:nvSpPr>
          <p:cNvPr id="1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rmAutofit fontScale="37485"/>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783548E5-5CF6-4137-AB1E-AC3C87D3382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rmAutofit fontScale="90336"/>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rmAutofit fontScale="90336"/>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0" name="PlaceHolder 4"/>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1" name="PlaceHolder 5"/>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2" name="PlaceHolder 6"/>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38A6932-47A1-45AB-AF0D-3D22E36FE4B7}"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28"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rmAutofit fontScale="8105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9"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30"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rmAutofit fontScale="8105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31" name="PlaceHolder 6"/>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2" name="PlaceHolder 7"/>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8"/>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57F7891B-0CE2-4DDA-A2BA-56CB48700D9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 name="PlaceHolder 2"/>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6" name="PlaceHolder 3"/>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4"/>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F8C52C34-2051-4E2D-80F6-331442EB266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0" name="PlaceHolder 2"/>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 name="PlaceHolder 3"/>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30EF5EF-BBC4-468C-B1D6-FB677EF4AF42}"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43"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rmAutofit fontScale="96865"/>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44"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45" name="PlaceHolder 4"/>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6" name="PlaceHolder 5"/>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 name="PlaceHolder 6"/>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B035227D-9154-4B06-81C3-BC2BAE85616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51" name="PlaceHolder 4"/>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5"/>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6"/>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B58A9DF1-EFFE-40D5-AFC8-21962404757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5" name="PlaceHolder 2"/>
          <p:cNvSpPr>
            <a:spLocks noGrp="1"/>
          </p:cNvSpPr>
          <p:nvPr>
            <p:ph type="body"/>
          </p:nvPr>
        </p:nvSpPr>
        <p:spPr>
          <a:xfrm rot="5400000">
            <a:off x="3920400" y="-1256400"/>
            <a:ext cx="4350960" cy="10515240"/>
          </a:xfrm>
          <a:prstGeom prst="rect">
            <a:avLst/>
          </a:prstGeom>
          <a:noFill/>
          <a:ln w="0">
            <a:noFill/>
          </a:ln>
        </p:spPr>
        <p:txBody>
          <a:bodyPr lIns="91440" rIns="91440" tIns="45720" bIns="45720" anchor="t">
            <a:normAutofit fontScale="7498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56" name="PlaceHolder 3"/>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7" name="PlaceHolder 4"/>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8" name="PlaceHolder 5"/>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96E6797-A710-4110-BDC7-185207279B69}"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rmAutofit/>
          </a:bodyPr>
          <a:p>
            <a:pPr>
              <a:defRPr b="1" sz="2800">
                <a:latin typeface="Arial"/>
              </a:defRPr>
            </a:pPr>
            <a:r>
              <a:t>IBM University Engagement Project Submission</a:t>
            </a:r>
          </a:p>
        </p:txBody>
      </p:sp>
      <p:sp>
        <p:nvSpPr>
          <p:cNvPr id="60" name="PlaceHolder 2"/>
          <p:cNvSpPr>
            <a:spLocks noGrp="1"/>
          </p:cNvSpPr>
          <p:nvPr>
            <p:ph/>
          </p:nvPr>
        </p:nvSpPr>
        <p:spPr>
          <a:xfrm>
            <a:off x="1014840" y="3903840"/>
            <a:ext cx="10515240" cy="1499760"/>
          </a:xfrm>
          <a:prstGeom prst="rect">
            <a:avLst/>
          </a:prstGeom>
          <a:noFill/>
          <a:ln w="0">
            <a:noFill/>
          </a:ln>
        </p:spPr>
        <p:txBody>
          <a:bodyPr lIns="91440" rIns="91440" tIns="45720" bIns="45720" anchor="t">
            <a:noAutofit/>
          </a:bodyPr>
          <a:p>
            <a:pPr>
              <a:defRPr sz="1600">
                <a:latin typeface="Arial"/>
              </a:defRPr>
            </a:pPr>
            <a:r>
              <a:t>“Problem Statement No. 7: Research Agent”</a:t>
            </a:r>
          </a:p>
          <a:p>
            <a:pPr>
              <a:defRPr sz="1600">
                <a:latin typeface="Arial"/>
              </a:defRPr>
            </a:pPr>
            <a:r>
              <a:t>Autonomous Multi-Agent Academic Discovery &amp; Literature Synthesis Studio</a:t>
            </a:r>
          </a:p>
          <a:p>
            <a:pPr>
              <a:defRPr sz="1600">
                <a:latin typeface="Arial"/>
              </a:defRPr>
            </a:pPr>
            <a:r>
              <a:t>Powered by IBM Granite 3.0, IBM watsonx.ai, and IBM Bob</a:t>
            </a:r>
          </a:p>
          <a:p>
            <a:pPr>
              <a:defRPr sz="1600">
                <a:latin typeface="Arial"/>
              </a:defRPr>
            </a:pPr>
          </a:p>
          <a:p>
            <a:pPr>
              <a:defRPr sz="1600">
                <a:latin typeface="Arial"/>
              </a:defRPr>
            </a:pPr>
            <a:r>
              <a:t>Author: Vaibhav Chavanpatil</a:t>
            </a: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Google Shape;92;p2"/>
          <p:cNvSpPr/>
          <p:nvPr/>
        </p:nvSpPr>
        <p:spPr>
          <a:xfrm>
            <a:off x="690480" y="4425480"/>
            <a:ext cx="10795320" cy="198720"/>
          </a:xfrm>
          <a:prstGeom prst="rect">
            <a:avLst/>
          </a:prstGeom>
          <a:noFill/>
          <a:ln w="0">
            <a:noFill/>
          </a:ln>
        </p:spPr>
        <p:style>
          <a:lnRef idx="0"/>
          <a:fillRef idx="0"/>
          <a:effectRef idx="0"/>
          <a:fontRef idx="minor"/>
        </p:style>
        <p:txBody>
          <a:bodyPr lIns="0" rIns="0" tIns="0" bIns="0" anchor="t">
            <a:noAutofit/>
          </a:bodyPr>
          <a:p>
            <a:pPr>
              <a:lnSpc>
                <a:spcPct val="160000"/>
              </a:lnSpc>
              <a:tabLst>
                <a:tab algn="l" pos="0"/>
              </a:tabLst>
            </a:pPr>
            <a:endParaRPr b="0" lang="en-US" sz="1500" spc="-1" strike="noStrike">
              <a:solidFill>
                <a:schemeClr val="dk1"/>
              </a:solidFill>
              <a:latin typeface="Times New Roman"/>
              <a:ea typeface="Times New Roman"/>
            </a:endParaRPr>
          </a:p>
        </p:txBody>
      </p:sp>
      <p:sp>
        <p:nvSpPr>
          <p:cNvPr id="62" name="Google Shape;95;p2"/>
          <p:cNvSpPr/>
          <p:nvPr/>
        </p:nvSpPr>
        <p:spPr>
          <a:xfrm>
            <a:off x="1102320" y="1174680"/>
            <a:ext cx="7426080" cy="451080"/>
          </a:xfrm>
          <a:prstGeom prst="rect">
            <a:avLst/>
          </a:prstGeom>
          <a:noFill/>
          <a:ln w="0">
            <a:noFill/>
          </a:ln>
        </p:spPr>
        <p:style>
          <a:lnRef idx="0"/>
          <a:fillRef idx="0"/>
          <a:effectRef idx="0"/>
          <a:fontRef idx="minor"/>
        </p:style>
        <p:txBody>
          <a:bodyPr anchor="ctr">
            <a:noAutofit/>
          </a:bodyPr>
          <a:p>
            <a:pPr algn="ctr">
              <a:lnSpc>
                <a:spcPct val="90000"/>
              </a:lnSpc>
              <a:tabLst>
                <a:tab algn="l" pos="0"/>
              </a:tabLst>
            </a:pPr>
            <a:endParaRPr b="1" lang="en-US" sz="3200" spc="-1" strike="noStrike">
              <a:solidFill>
                <a:srgbClr val="002060"/>
              </a:solidFill>
              <a:latin typeface="Times New Roman"/>
              <a:ea typeface="Times New Roman"/>
            </a:endParaRPr>
          </a:p>
        </p:txBody>
      </p:sp>
      <p:graphicFrame>
        <p:nvGraphicFramePr>
          <p:cNvPr id="63" name="Google Shape;96;p2"/>
          <p:cNvGraphicFramePr/>
          <p:nvPr/>
        </p:nvGraphicFramePr>
        <p:xfrm>
          <a:off x="1299240" y="2600280"/>
          <a:ext cx="939456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algn="l" pos="0"/>
                        </a:tabLst>
                      </a:pPr>
                      <a:r>
                        <a:rPr b="0" lang="en-US" sz="1800" spc="-1" strike="noStrike">
                          <a:solidFill>
                            <a:srgbClr val="000000"/>
                          </a:solidFill>
                          <a:latin typeface="Arial"/>
                          <a:ea typeface="Arial"/>
                        </a:rPr>
                        <a:t>Student Name</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Arial"/>
                        </a:rPr>
                        <a:t>Recent Passport Photo</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Calibri"/>
                        </a:rPr>
                        <a:t>Email ID </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Calibri"/>
                        </a:rPr>
                        <a:t>Mobile number</a:t>
                      </a:r>
                      <a:endParaRPr b="0" lang="en-US" sz="1800" spc="-1" strike="noStrike">
                        <a:solidFill>
                          <a:srgbClr val="ffffff"/>
                        </a:solidFill>
                        <a:latin typeface="Arial"/>
                      </a:endParaRPr>
                    </a:p>
                    <a:p>
                      <a:pPr algn="ctr">
                        <a:lnSpc>
                          <a:spcPct val="100000"/>
                        </a:lnSpc>
                        <a:tabLst>
                          <a:tab algn="l" pos="0"/>
                        </a:tabLst>
                      </a:pPr>
                      <a:r>
                        <a:rPr b="0" lang="en-US" sz="1800" spc="-1" strike="noStrike">
                          <a:solidFill>
                            <a:srgbClr val="000000"/>
                          </a:solidFill>
                          <a:latin typeface="Arial"/>
                          <a:ea typeface="Calibri"/>
                        </a:rPr>
                        <a:t>[WhatsApp] </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pPr>
                        <a:defRPr sz="1300" b="1">
                          <a:latin typeface="Arial"/>
                        </a:defRPr>
                      </a:pPr>
                      <a:r>
                        <a:t>Vaibhav Chavanpatil</a:t>
                      </a:r>
                    </a:p>
                    <a:p>
                      <a:pPr>
                        <a:defRPr sz="1300" b="1">
                          <a:latin typeface="Arial"/>
                        </a:defRPr>
                      </a:pPr>
                      <a:r>
                        <a:t>(3rd Year CSE Student)</a:t>
                      </a: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defRPr sz="1100">
                          <a:latin typeface="Arial"/>
                        </a:defRPr>
                      </a:pPr>
                      <a:r>
                        <a:t>91275740+VAIBHAV7848@users.noreply.github.com</a:t>
                      </a:r>
                    </a:p>
                    <a:p>
                      <a:pPr>
                        <a:defRPr sz="1100">
                          <a:latin typeface="Arial"/>
                        </a:defRPr>
                      </a:pPr>
                      <a:r>
                        <a:t>GitHub: github.com/VAIBHAV7848</a:t>
                      </a: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defRPr sz="1200">
                          <a:latin typeface="Arial"/>
                        </a:defRPr>
                      </a:pPr>
                      <a:r>
                        <a:t>+91 91275 74800</a:t>
                      </a:r>
                    </a:p>
                    <a:p>
                      <a:pPr>
                        <a:defRPr sz="1200">
                          <a:latin typeface="Arial"/>
                        </a:defRPr>
                      </a:pPr>
                      <a:r>
                        <a:t>[Available on WhatsApp]</a:t>
                      </a: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pic>
        <p:nvPicPr>
          <p:cNvPr id="64" name="Google Shape;98;p2" descr=""/>
          <p:cNvPicPr/>
          <p:nvPr/>
        </p:nvPicPr>
        <p:blipFill>
          <a:blip r:embed="rId1"/>
          <a:stretch/>
        </p:blipFill>
        <p:spPr>
          <a:xfrm>
            <a:off x="4052880" y="3738240"/>
            <a:ext cx="762120" cy="801360"/>
          </a:xfrm>
          <a:prstGeom prst="rect">
            <a:avLst/>
          </a:prstGeom>
          <a:ln w="0">
            <a:noFill/>
          </a:ln>
        </p:spPr>
      </p:pic>
      <p:sp>
        <p:nvSpPr>
          <p:cNvPr id="65" name="TextBox 3"/>
          <p:cNvSpPr/>
          <p:nvPr/>
        </p:nvSpPr>
        <p:spPr>
          <a:xfrm>
            <a:off x="1206000" y="1460880"/>
            <a:ext cx="10279800" cy="455400"/>
          </a:xfrm>
          <a:prstGeom prst="rect">
            <a:avLst/>
          </a:prstGeom>
          <a:noFill/>
          <a:ln w="0">
            <a:noFill/>
          </a:ln>
        </p:spPr>
        <p:style>
          <a:lnRef idx="0"/>
          <a:fillRef idx="0"/>
          <a:effectRef idx="0"/>
          <a:fontRef idx="minor"/>
        </p:style>
        <p:txBody>
          <a:bodyPr lIns="90000" rIns="90000" tIns="45000" bIns="45000" anchor="t">
            <a:spAutoFit/>
          </a:bodyPr>
          <a:p>
            <a:pPr>
              <a:defRPr b="1" sz="2000">
                <a:latin typeface="Arial"/>
              </a:defRPr>
            </a:pPr>
            <a:r>
              <a:t>Domain of Project – Higher Education &amp; Academic Research / Agentic AI</a:t>
            </a:r>
          </a:p>
        </p:txBody>
      </p:sp>
      <p:sp>
        <p:nvSpPr>
          <p:cNvPr id="66" name="TextBox 6"/>
          <p:cNvSpPr/>
          <p:nvPr/>
        </p:nvSpPr>
        <p:spPr>
          <a:xfrm>
            <a:off x="1206000" y="551880"/>
            <a:ext cx="9580680" cy="455400"/>
          </a:xfrm>
          <a:prstGeom prst="rect">
            <a:avLst/>
          </a:prstGeom>
          <a:noFill/>
          <a:ln w="0">
            <a:noFill/>
          </a:ln>
        </p:spPr>
        <p:style>
          <a:lnRef idx="0"/>
          <a:fillRef idx="0"/>
          <a:effectRef idx="0"/>
          <a:fontRef idx="minor"/>
        </p:style>
        <p:txBody>
          <a:bodyPr lIns="90000" rIns="90000" tIns="45000" bIns="45000" anchor="t">
            <a:spAutoFit/>
          </a:bodyPr>
          <a:p>
            <a:pPr>
              <a:defRPr b="1" sz="2000">
                <a:latin typeface="Arial"/>
              </a:defRPr>
            </a:pPr>
            <a:r>
              <a:t>Project Title – Problem Statement No. 7: Research Agent (Langflow Multi-Agent Studio)</a:t>
            </a:r>
          </a:p>
        </p:txBody>
      </p:sp>
      <p:sp>
        <p:nvSpPr>
          <p:cNvPr id="67" name="TextBox 2"/>
          <p:cNvSpPr/>
          <p:nvPr/>
        </p:nvSpPr>
        <p:spPr>
          <a:xfrm>
            <a:off x="1211040" y="5210640"/>
            <a:ext cx="6456240" cy="1615680"/>
          </a:xfrm>
          <a:prstGeom prst="rect">
            <a:avLst/>
          </a:prstGeom>
          <a:noFill/>
          <a:ln w="0">
            <a:noFill/>
          </a:ln>
        </p:spPr>
        <p:style>
          <a:lnRef idx="0"/>
          <a:fillRef idx="0"/>
          <a:effectRef idx="0"/>
          <a:fontRef idx="minor"/>
        </p:style>
        <p:txBody>
          <a:bodyPr numCol="1" spcCol="0" horzOverflow="overflow" anchor="t">
            <a:spAutoFit/>
          </a:body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Box 1"/>
          <p:cNvSpPr/>
          <p:nvPr/>
        </p:nvSpPr>
        <p:spPr>
          <a:xfrm>
            <a:off x="576000" y="1234440"/>
            <a:ext cx="10606680" cy="4999680"/>
          </a:xfrm>
          <a:prstGeom prst="rect">
            <a:avLst/>
          </a:prstGeom>
          <a:noFill/>
          <a:ln w="0">
            <a:noFill/>
          </a:ln>
        </p:spPr>
        <p:style>
          <a:lnRef idx="0"/>
          <a:fillRef idx="0"/>
          <a:effectRef idx="0"/>
          <a:fontRef idx="minor"/>
        </p:style>
        <p:txBody>
          <a:bodyPr lIns="90000" rIns="90000" tIns="45000" bIns="45000" anchor="t">
            <a:spAutoFit/>
          </a:bodyPr>
          <a:p>
            <a:pPr>
              <a:defRPr sz="1000">
                <a:latin typeface="Arial"/>
              </a:defRPr>
            </a:pPr>
            <a:r>
              <a:t>Problem Statement : Research Agent (Problem Statement No. 7)</a:t>
            </a:r>
          </a:p>
          <a:p>
            <a:pPr>
              <a:defRPr sz="1000">
                <a:latin typeface="Arial"/>
              </a:defRPr>
            </a:pPr>
          </a:p>
          <a:p>
            <a:pPr>
              <a:defRPr sz="1000">
                <a:latin typeface="Arial"/>
              </a:defRPr>
            </a:pPr>
            <a:r>
              <a:t>The Challenge</a:t>
            </a:r>
          </a:p>
          <a:p>
            <a:pPr>
              <a:defRPr sz="1000">
                <a:latin typeface="Arial"/>
              </a:defRPr>
            </a:pPr>
            <a:r>
              <a:t>Academic researchers, scientists, and university students grapple with literature overload across tens of thousands of preprint publications annually. Critical scientific insights, empirical benchmark comparisons, and citation gaps remain buried in siloed PDFs. Manual synthesis is labor-intensive, slow, ungrounded, and prone to severe hallucinations in generic LLM chatbots.</a:t>
            </a:r>
          </a:p>
          <a:p>
            <a:pPr>
              <a:defRPr sz="1000">
                <a:latin typeface="Arial"/>
              </a:defRPr>
            </a:pPr>
          </a:p>
          <a:p>
            <a:pPr>
              <a:defRPr sz="1000">
                <a:latin typeface="Arial"/>
              </a:defRPr>
            </a:pPr>
            <a:r>
              <a:t>The Objective</a:t>
            </a:r>
          </a:p>
          <a:p>
            <a:pPr>
              <a:defRPr sz="1000">
                <a:latin typeface="Arial"/>
              </a:defRPr>
            </a:pPr>
            <a:r>
              <a:t>Build an autonomous, agentic Research Agent platform powered by IBM Bob, IBM watsonx.ai, and IBM Granite 3.0 that delivers grounded, multi-agent academic discovery:</a:t>
            </a:r>
          </a:p>
          <a:p>
            <a:pPr>
              <a:defRPr sz="1000">
                <a:latin typeface="Arial"/>
              </a:defRPr>
            </a:pPr>
            <a:r>
              <a:t>• 2D Interactive Physics Citation Topology – Real-time force-directed clustering of papers and citation lineage at 60 FPS.</a:t>
            </a:r>
          </a:p>
          <a:p>
            <a:pPr>
              <a:defRPr sz="1000">
                <a:latin typeface="Arial"/>
              </a:defRPr>
            </a:pPr>
            <a:r>
              <a:t>• AST Academic Document Ingestion – Automated parser extracting metadata, abstracts, and reference links into the active corpus.</a:t>
            </a:r>
          </a:p>
          <a:p>
            <a:pPr>
              <a:defRPr sz="1000">
                <a:latin typeface="Arial"/>
              </a:defRPr>
            </a:pPr>
            <a:r>
              <a:t>• Emerging Research Velocity &amp; Trajectories – Predictive momentum forecasting (2021–2026) across domain datasets.</a:t>
            </a:r>
          </a:p>
          <a:p>
            <a:pPr>
              <a:defRPr sz="1000">
                <a:latin typeface="Arial"/>
              </a:defRPr>
            </a:pPr>
            <a:r>
              <a:t>• Citation Gap &amp; White-Space Matrix – Algorithmic detection of unexplored intersections and predictive hypothesis generation.</a:t>
            </a:r>
          </a:p>
          <a:p>
            <a:pPr>
              <a:defRPr sz="1000">
                <a:latin typeface="Arial"/>
              </a:defRPr>
            </a:pPr>
            <a:r>
              <a:t>• 4-Agent Langflow Pipeline – Collaborative orchestration of AST Parser, Topology Builder, Gap Detector, and Granite RAG Reasoner.</a:t>
            </a:r>
          </a:p>
          <a:p>
            <a:pPr>
              <a:defRPr sz="1000">
                <a:latin typeface="Arial"/>
              </a:defRPr>
            </a:pPr>
            <a:r>
              <a:t>• Automated Literature Review &amp; Export – Instant generation of peer-review-ready synthesis with BibTeX (.bib) and Markdown (.md) export.</a:t>
            </a:r>
          </a:p>
        </p:txBody>
      </p:sp>
      <p:sp>
        <p:nvSpPr>
          <p:cNvPr id="69" name="TextBox 2"/>
          <p:cNvSpPr/>
          <p:nvPr/>
        </p:nvSpPr>
        <p:spPr>
          <a:xfrm>
            <a:off x="576000" y="704160"/>
            <a:ext cx="7214400" cy="455400"/>
          </a:xfrm>
          <a:prstGeom prst="rect">
            <a:avLst/>
          </a:prstGeom>
          <a:noFill/>
          <a:ln w="0">
            <a:noFill/>
          </a:ln>
        </p:spPr>
        <p:style>
          <a:lnRef idx="0"/>
          <a:fillRef idx="0"/>
          <a:effectRef idx="0"/>
          <a:fontRef idx="minor"/>
        </p:style>
        <p:txBody>
          <a:bodyPr lIns="90000" rIns="90000" tIns="45000" bIns="45000" anchor="t">
            <a:spAutoFit/>
          </a:bodyPr>
          <a:p>
            <a:r>
              <a:t>Problem Statement -</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TextBox 1"/>
          <p:cNvSpPr/>
          <p:nvPr/>
        </p:nvSpPr>
        <p:spPr>
          <a:xfrm>
            <a:off x="576000" y="1234440"/>
            <a:ext cx="10606680" cy="5213160"/>
          </a:xfrm>
          <a:prstGeom prst="rect">
            <a:avLst/>
          </a:prstGeom>
          <a:noFill/>
          <a:ln w="0">
            <a:noFill/>
          </a:ln>
        </p:spPr>
        <p:style>
          <a:lnRef idx="0"/>
          <a:fillRef idx="0"/>
          <a:effectRef idx="0"/>
          <a:fontRef idx="minor"/>
        </p:style>
        <p:txBody>
          <a:bodyPr lIns="90000" rIns="90000" tIns="45000" bIns="45000" anchor="t">
            <a:spAutoFit/>
          </a:bodyPr>
          <a:p>
            <a:pPr>
              <a:defRPr sz="1000">
                <a:latin typeface="Arial"/>
              </a:defRPr>
            </a:pPr>
            <a:r>
              <a:t>Proposed Solution: AI-Powered Research Agent Studio</a:t>
            </a:r>
          </a:p>
          <a:p>
            <a:pPr>
              <a:defRPr sz="1000">
                <a:latin typeface="Arial"/>
              </a:defRPr>
            </a:pPr>
          </a:p>
          <a:p>
            <a:pPr>
              <a:defRPr sz="1000">
                <a:latin typeface="Arial"/>
              </a:defRPr>
            </a:pPr>
            <a:r>
              <a:t>The proposed solution is an autonomous multi-agent academic discovery and literature review studio built using IBM Bob, IBM watsonx.ai, and IBM Granite 3.0 models. The system addresses challenges in literature comprehension, cross-paper comparison, and white-space discovery through a modular, agentic architecture.</a:t>
            </a:r>
          </a:p>
          <a:p>
            <a:pPr>
              <a:defRPr sz="1000">
                <a:latin typeface="Arial"/>
              </a:defRPr>
            </a:pPr>
          </a:p>
          <a:p>
            <a:pPr>
              <a:defRPr sz="1000">
                <a:latin typeface="Arial"/>
              </a:defRPr>
            </a:pPr>
            <a:r>
              <a:t>At its core, the solution utilizes a Graph-Grounded Retrieval-Augmented Generation (RAG) pipeline to fetch accurate context from peer-reviewed academic corpora. Citations and claims are embedded into a dynamic topological graph, enabling the system to evaluate empirical metrics and comparative trade-offs using Granite models.</a:t>
            </a:r>
          </a:p>
          <a:p>
            <a:pPr>
              <a:defRPr sz="1000">
                <a:latin typeface="Arial"/>
              </a:defRPr>
            </a:pPr>
          </a:p>
          <a:p>
            <a:pPr>
              <a:defRPr sz="1000">
                <a:latin typeface="Arial"/>
              </a:defRPr>
            </a:pPr>
            <a:r>
              <a:t>The system consists of four specialized collaborative agents:</a:t>
            </a:r>
          </a:p>
          <a:p>
            <a:pPr>
              <a:defRPr sz="1000">
                <a:latin typeface="Arial"/>
              </a:defRPr>
            </a:pPr>
            <a:r>
              <a:t>• AST Ingestion &amp; Parser Agent: Extracts academic metadata, abstracts, and reference citations from uploaded PDFs and preprints.</a:t>
            </a:r>
          </a:p>
          <a:p>
            <a:pPr>
              <a:defRPr sz="1000">
                <a:latin typeface="Arial"/>
              </a:defRPr>
            </a:pPr>
            <a:r>
              <a:t>• Topology &amp; Citation Graph Agent: Calculates connection strengths, thematic clusters, and force-directed 2D physics layouts.</a:t>
            </a:r>
          </a:p>
          <a:p>
            <a:pPr>
              <a:defRPr sz="1000">
                <a:latin typeface="Arial"/>
              </a:defRPr>
            </a:pPr>
            <a:r>
              <a:t>• Gap Detector &amp; Trend Velocity Agent: Identifies unexplored literature intersections, computes opportunity scores (0-100), and models publication trajectories.</a:t>
            </a:r>
          </a:p>
          <a:p>
            <a:pPr>
              <a:defRPr sz="1000">
                <a:latin typeface="Arial"/>
              </a:defRPr>
            </a:pPr>
            <a:r>
              <a:t>• Granite RAG Synthesis Agent: Reasons across citations, answers complex cross-paper questions, and writes comprehensive literature reviews with verified attribution.</a:t>
            </a:r>
          </a:p>
          <a:p>
            <a:pPr>
              <a:defRPr sz="1000">
                <a:latin typeface="Arial"/>
              </a:defRPr>
            </a:pPr>
          </a:p>
          <a:p>
            <a:pPr>
              <a:defRPr sz="1000">
                <a:latin typeface="Arial"/>
              </a:defRPr>
            </a:pPr>
            <a:r>
              <a:t>The solution features a high-performance, human-centered studio interface (Claude Terracotta &amp; Warm White design system) providing researchers with real-time graph navigation, trajectory charts, slide-over paper drawers, and BibTeX/Markdown export.</a:t>
            </a:r>
          </a:p>
          <a:p>
            <a:pPr>
              <a:defRPr sz="1000">
                <a:latin typeface="Arial"/>
              </a:defRPr>
            </a:pPr>
            <a:r>
              <a:t>IBM Bob orchestrates multi-agent workflows, while watsonx.ai ensures enterprise-grade model deployment, governance, and low-latency reasoning with Groq LPU acceleration.</a:t>
            </a:r>
          </a:p>
        </p:txBody>
      </p:sp>
      <p:sp>
        <p:nvSpPr>
          <p:cNvPr id="71" name="TextBox 2"/>
          <p:cNvSpPr/>
          <p:nvPr/>
        </p:nvSpPr>
        <p:spPr>
          <a:xfrm>
            <a:off x="576000" y="704160"/>
            <a:ext cx="7214400" cy="455400"/>
          </a:xfrm>
          <a:prstGeom prst="rect">
            <a:avLst/>
          </a:prstGeom>
          <a:noFill/>
          <a:ln w="0">
            <a:noFill/>
          </a:ln>
        </p:spPr>
        <p:style>
          <a:lnRef idx="0"/>
          <a:fillRef idx="0"/>
          <a:effectRef idx="0"/>
          <a:fontRef idx="minor"/>
        </p:style>
        <p:txBody>
          <a:bodyPr lIns="90000" rIns="90000" tIns="45000" bIns="45000" anchor="t">
            <a:spAutoFit/>
          </a:bodyPr>
          <a:p>
            <a:r>
              <a:t>Proposed Solution -</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TextBox 1"/>
          <p:cNvSpPr/>
          <p:nvPr/>
        </p:nvSpPr>
        <p:spPr>
          <a:xfrm>
            <a:off x="777240" y="484560"/>
            <a:ext cx="7122960" cy="456840"/>
          </a:xfrm>
          <a:prstGeom prst="rect">
            <a:avLst/>
          </a:prstGeom>
          <a:noFill/>
          <a:ln w="0">
            <a:noFill/>
          </a:ln>
        </p:spPr>
        <p:style>
          <a:lnRef idx="0"/>
          <a:fillRef idx="0"/>
          <a:effectRef idx="0"/>
          <a:fontRef idx="minor"/>
        </p:style>
        <p:txBody>
          <a:bodyPr anchor="t">
            <a:spAutoFit/>
          </a:bodyPr>
          <a:p>
            <a:r>
              <a:t>Technology Used</a:t>
            </a:r>
          </a:p>
        </p:txBody>
      </p:sp>
      <p:sp>
        <p:nvSpPr>
          <p:cNvPr id="73" name="TextBox 2"/>
          <p:cNvSpPr/>
          <p:nvPr/>
        </p:nvSpPr>
        <p:spPr>
          <a:xfrm>
            <a:off x="777240" y="1207080"/>
            <a:ext cx="10515240" cy="5454360"/>
          </a:xfrm>
          <a:prstGeom prst="rect">
            <a:avLst/>
          </a:prstGeom>
          <a:noFill/>
          <a:ln w="0">
            <a:noFill/>
          </a:ln>
        </p:spPr>
        <p:style>
          <a:lnRef idx="0"/>
          <a:fillRef idx="0"/>
          <a:effectRef idx="0"/>
          <a:fontRef idx="minor"/>
        </p:style>
        <p:txBody>
          <a:bodyPr lIns="90000" rIns="90000" tIns="45000" bIns="45000" anchor="t">
            <a:spAutoFit/>
          </a:bodyPr>
          <a:p>
            <a:pPr>
              <a:defRPr sz="1200">
                <a:latin typeface="Arial"/>
              </a:defRPr>
            </a:pPr>
            <a:r>
              <a:t>IBM Bob Platform – Visual workflow design, multi-agent orchestration, and full-stack development environment for AI agent systems.</a:t>
            </a:r>
          </a:p>
          <a:p>
            <a:pPr>
              <a:defRPr sz="1200">
                <a:latin typeface="Arial"/>
              </a:defRPr>
            </a:pPr>
          </a:p>
          <a:p>
            <a:pPr>
              <a:defRPr sz="1200">
                <a:latin typeface="Arial"/>
              </a:defRPr>
            </a:pPr>
            <a:r>
              <a:t>IBM Granite 3.0 Models (ibm/granite-3-8b-instruct) – Enterprise foundation models for natural language understanding, reasoning, tool invocation, and academic literature synthesis.</a:t>
            </a:r>
          </a:p>
          <a:p>
            <a:pPr>
              <a:defRPr sz="1200">
                <a:latin typeface="Arial"/>
              </a:defRPr>
            </a:pPr>
          </a:p>
          <a:p>
            <a:pPr>
              <a:defRPr sz="1200">
                <a:latin typeface="Arial"/>
              </a:defRPr>
            </a:pPr>
            <a:r>
              <a:t>IBM Cloud &amp; watsonx.ai – Provides the scalable enterprise infrastructure to build, deploy, and govern the Research Agent with vector embeddings.</a:t>
            </a:r>
          </a:p>
          <a:p>
            <a:pPr>
              <a:defRPr sz="1200">
                <a:latin typeface="Arial"/>
              </a:defRPr>
            </a:pPr>
          </a:p>
          <a:p>
            <a:pPr>
              <a:defRPr sz="1200">
                <a:latin typeface="Arial"/>
              </a:defRPr>
            </a:pPr>
            <a:r>
              <a:t>Groq LPU Inference Engine – Ultra-fast live LPU execution (~500 T/s) with resilient offline fallback for zero-downtime academic demonstrations.</a:t>
            </a:r>
          </a:p>
          <a:p>
            <a:pPr>
              <a:defRPr sz="1200">
                <a:latin typeface="Arial"/>
              </a:defRPr>
            </a:pPr>
          </a:p>
          <a:p>
            <a:pPr>
              <a:defRPr sz="1200">
                <a:latin typeface="Arial"/>
              </a:defRPr>
            </a:pPr>
            <a:r>
              <a:t>Graph-Grounded RAG – Retrieves verified paper context and citation topology before generating answers, eliminating hallucinations.</a:t>
            </a:r>
          </a:p>
          <a:p>
            <a:pPr>
              <a:defRPr sz="1200">
                <a:latin typeface="Arial"/>
              </a:defRPr>
            </a:pPr>
          </a:p>
          <a:p>
            <a:pPr>
              <a:defRPr sz="1200">
                <a:latin typeface="Arial"/>
              </a:defRPr>
            </a:pPr>
            <a:r>
              <a:t>Next.js 15, React 19 &amp; Tailwind CSS – High-performance studio interface with custom 2D Physics Canvas and Claude Terracotta design.</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Google Shape;135;p5"/>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r>
              <a:t>Required Files created using IBM bob -</a:t>
            </a:r>
          </a:p>
        </p:txBody>
      </p:sp>
      <p:sp>
        <p:nvSpPr>
          <p:cNvPr id="75" name="Google Shape;148;p5"/>
          <p:cNvSpPr/>
          <p:nvPr/>
        </p:nvSpPr>
        <p:spPr>
          <a:xfrm>
            <a:off x="2264400" y="6784560"/>
            <a:ext cx="214056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76" name="Google Shape;149;p5"/>
          <p:cNvSpPr/>
          <p:nvPr/>
        </p:nvSpPr>
        <p:spPr>
          <a:xfrm>
            <a:off x="178272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77" name="Google Shape;150;p5"/>
          <p:cNvSpPr/>
          <p:nvPr/>
        </p:nvSpPr>
        <p:spPr>
          <a:xfrm>
            <a:off x="5732280" y="6784560"/>
            <a:ext cx="179352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78" name="Google Shape;151;p5"/>
          <p:cNvSpPr/>
          <p:nvPr/>
        </p:nvSpPr>
        <p:spPr>
          <a:xfrm>
            <a:off x="507744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79" name="Google Shape;152;p5"/>
          <p:cNvSpPr/>
          <p:nvPr/>
        </p:nvSpPr>
        <p:spPr>
          <a:xfrm>
            <a:off x="9027000" y="6784560"/>
            <a:ext cx="179352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80" name="Google Shape;153;p5"/>
          <p:cNvSpPr/>
          <p:nvPr/>
        </p:nvSpPr>
        <p:spPr>
          <a:xfrm>
            <a:off x="837216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81" name="TextBox 1"/>
          <p:cNvSpPr/>
          <p:nvPr/>
        </p:nvSpPr>
        <p:spPr>
          <a:xfrm>
            <a:off x="474840" y="863280"/>
            <a:ext cx="8823600" cy="4693320"/>
          </a:xfrm>
          <a:prstGeom prst="rect">
            <a:avLst/>
          </a:prstGeom>
          <a:noFill/>
          <a:ln w="0">
            <a:noFill/>
          </a:ln>
        </p:spPr>
        <p:style>
          <a:lnRef idx="0"/>
          <a:fillRef idx="0"/>
          <a:effectRef idx="0"/>
          <a:fontRef idx="minor"/>
        </p:style>
        <p:txBody>
          <a:bodyPr lIns="90000" rIns="90000" tIns="45000" bIns="45000" anchor="t">
            <a:spAutoFit/>
          </a:bodyPr>
          <a:p>
            <a:pPr>
              <a:defRPr sz="1100">
                <a:latin typeface="Arial"/>
              </a:defRPr>
            </a:pPr>
            <a:r>
              <a:t>app/page.tsx</a:t>
            </a:r>
          </a:p>
          <a:p>
            <a:pPr>
              <a:defRPr sz="1100">
                <a:latin typeface="Arial"/>
              </a:defRPr>
            </a:pPr>
          </a:p>
          <a:p>
            <a:pPr>
              <a:defRPr sz="1100">
                <a:latin typeface="Arial"/>
              </a:defRPr>
            </a:pPr>
            <a:r>
              <a:t>CitationCanvas.tsx</a:t>
            </a:r>
          </a:p>
          <a:p>
            <a:pPr>
              <a:defRPr sz="1100">
                <a:latin typeface="Arial"/>
              </a:defRPr>
            </a:pPr>
          </a:p>
          <a:p>
            <a:pPr>
              <a:defRPr sz="1100">
                <a:latin typeface="Arial"/>
              </a:defRPr>
            </a:pPr>
            <a:r>
              <a:t>TrendVelocityView.tsx</a:t>
            </a:r>
          </a:p>
          <a:p>
            <a:pPr>
              <a:defRPr sz="1100">
                <a:latin typeface="Arial"/>
              </a:defRPr>
            </a:pPr>
          </a:p>
          <a:p>
            <a:pPr>
              <a:defRPr sz="1100">
                <a:latin typeface="Arial"/>
              </a:defRPr>
            </a:pPr>
            <a:r>
              <a:t>CitationGapMatrix.tsx</a:t>
            </a:r>
          </a:p>
          <a:p>
            <a:pPr>
              <a:defRPr sz="1100">
                <a:latin typeface="Arial"/>
              </a:defRPr>
            </a:pPr>
          </a:p>
          <a:p>
            <a:pPr>
              <a:defRPr sz="1100">
                <a:latin typeface="Arial"/>
              </a:defRPr>
            </a:pPr>
            <a:r>
              <a:t>GraniteChatConsole.tsx</a:t>
            </a:r>
          </a:p>
          <a:p>
            <a:pPr>
              <a:defRPr sz="1100">
                <a:latin typeface="Arial"/>
              </a:defRPr>
            </a:pPr>
          </a:p>
          <a:p>
            <a:pPr>
              <a:defRPr sz="1100">
                <a:latin typeface="Arial"/>
              </a:defRPr>
            </a:pPr>
            <a:r>
              <a:t>LiteratureReviewView.tsx</a:t>
            </a:r>
          </a:p>
          <a:p>
            <a:pPr>
              <a:defRPr sz="1100">
                <a:latin typeface="Arial"/>
              </a:defRPr>
            </a:pPr>
          </a:p>
          <a:p>
            <a:pPr>
              <a:defRPr sz="1100">
                <a:latin typeface="Arial"/>
              </a:defRPr>
            </a:pPr>
            <a:r>
              <a:t>app/api/chat/route.ts</a:t>
            </a:r>
          </a:p>
          <a:p>
            <a:pPr>
              <a:defRPr sz="1100">
                <a:latin typeface="Arial"/>
              </a:defRPr>
            </a:pPr>
          </a:p>
          <a:p>
            <a:pPr>
              <a:defRPr sz="1100">
                <a:latin typeface="Arial"/>
              </a:defRPr>
            </a:pPr>
            <a:r>
              <a:t>package.json / .env.local</a:t>
            </a:r>
          </a:p>
        </p:txBody>
      </p:sp>
      <p:pic>
        <p:nvPicPr>
          <p:cNvPr id="82" name="Picture 4" descr=""/>
          <p:cNvPicPr/>
          <p:nvPr/>
        </p:nvPicPr>
        <p:blipFill>
          <a:blip r:embed="rId1"/>
          <a:stretch/>
        </p:blipFill>
        <p:spPr>
          <a:xfrm>
            <a:off x="4014360" y="1860480"/>
            <a:ext cx="7868160" cy="4512600"/>
          </a:xfrm>
          <a:prstGeom prst="rect">
            <a:avLst/>
          </a:prstGeom>
          <a:ln w="0">
            <a:noFill/>
          </a:ln>
        </p:spPr>
      </p:pic>
      <p:sp>
        <p:nvSpPr>
          <p:cNvPr id="83" name="Rectangle 8"/>
          <p:cNvSpPr/>
          <p:nvPr/>
        </p:nvSpPr>
        <p:spPr>
          <a:xfrm>
            <a:off x="4250880" y="2030040"/>
            <a:ext cx="5907960" cy="316800"/>
          </a:xfrm>
          <a:prstGeom prst="rect">
            <a:avLst/>
          </a:prstGeom>
          <a:solidFill>
            <a:srgbClr val="e71224">
              <a:alpha val="5000"/>
            </a:srgbClr>
          </a:solidFill>
          <a:ln w="72000">
            <a:solidFill>
              <a:srgbClr val="e71224"/>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IN" sz="1400" spc="-1" strike="noStrike">
              <a:solidFill>
                <a:srgbClr val="e71224"/>
              </a:solidFill>
              <a:latin typeface="Arial"/>
              <a:ea typeface="Arial"/>
            </a:endParaRPr>
          </a:p>
        </p:txBody>
      </p:sp>
      <p:sp>
        <p:nvSpPr>
          <p:cNvPr id="84" name="Arrow: Right 9"/>
          <p:cNvSpPr/>
          <p:nvPr/>
        </p:nvSpPr>
        <p:spPr>
          <a:xfrm rot="8280000">
            <a:off x="7720200" y="1520640"/>
            <a:ext cx="923040" cy="338040"/>
          </a:xfrm>
          <a:prstGeom prst="rightArrow">
            <a:avLst>
              <a:gd name="adj1" fmla="val 50000"/>
              <a:gd name="adj2" fmla="val 50000"/>
            </a:avLst>
          </a:prstGeom>
          <a:solidFill>
            <a:srgbClr val="4472c4"/>
          </a:solidFill>
          <a:ln>
            <a:solidFill>
              <a:srgbClr val="1d315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IN"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Google Shape;135;p5"/>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r>
              <a:t>IBM Bob Screenshots: 2D Physics Citation Graph &amp; Corpus Library</a:t>
            </a:r>
          </a:p>
        </p:txBody>
      </p:sp>
      <p:pic>
        <p:nvPicPr>
          <p:cNvPr id="86" name="Picture 4" descr=""/>
          <p:cNvPicPr/>
          <p:nvPr/>
        </p:nvPicPr>
        <p:blipFill>
          <a:blip r:embed="rId1"/>
          <a:stretch/>
        </p:blipFill>
        <p:spPr>
          <a:xfrm>
            <a:off x="1371600" y="964800"/>
            <a:ext cx="9217440" cy="57283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Picture 4" descr=""/>
          <p:cNvPicPr/>
          <p:nvPr/>
        </p:nvPicPr>
        <p:blipFill>
          <a:blip r:embed="rId1"/>
          <a:stretch/>
        </p:blipFill>
        <p:spPr>
          <a:xfrm>
            <a:off x="157320" y="400680"/>
            <a:ext cx="11144880" cy="57164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Google Shape;135;p5"/>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r>
              <a:t>Architecture blueprint for IBM bob: 4-Agent Langflow &amp; Granite RAG</a:t>
            </a:r>
          </a:p>
        </p:txBody>
      </p:sp>
      <p:pic>
        <p:nvPicPr>
          <p:cNvPr id="89" name="Picture 2" descr=""/>
          <p:cNvPicPr/>
          <p:nvPr/>
        </p:nvPicPr>
        <p:blipFill>
          <a:blip r:embed="rId1"/>
          <a:stretch/>
        </p:blipFill>
        <p:spPr>
          <a:xfrm>
            <a:off x="535680" y="675720"/>
            <a:ext cx="11467800" cy="61812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Google Shape;196;p9" descr=""/>
          <p:cNvPicPr/>
          <p:nvPr/>
        </p:nvPicPr>
        <p:blipFill>
          <a:blip r:embed="rId1"/>
          <a:stretch/>
        </p:blipFill>
        <p:spPr>
          <a:xfrm>
            <a:off x="8372160" y="1167480"/>
            <a:ext cx="3015000" cy="4522680"/>
          </a:xfrm>
          <a:prstGeom prst="rect">
            <a:avLst/>
          </a:prstGeom>
          <a:ln w="0">
            <a:noFill/>
          </a:ln>
        </p:spPr>
      </p:pic>
      <p:sp>
        <p:nvSpPr>
          <p:cNvPr id="91" name="TextBox 1"/>
          <p:cNvSpPr/>
          <p:nvPr/>
        </p:nvSpPr>
        <p:spPr>
          <a:xfrm>
            <a:off x="475560" y="283320"/>
            <a:ext cx="9317520" cy="577440"/>
          </a:xfrm>
          <a:prstGeom prst="rect">
            <a:avLst/>
          </a:prstGeom>
          <a:noFill/>
          <a:ln w="0">
            <a:noFill/>
          </a:ln>
        </p:spPr>
        <p:style>
          <a:lnRef idx="0"/>
          <a:fillRef idx="0"/>
          <a:effectRef idx="0"/>
          <a:fontRef idx="minor"/>
        </p:style>
        <p:txBody>
          <a:bodyPr lIns="90000" rIns="90000" tIns="45000" bIns="45000" anchor="t">
            <a:spAutoFit/>
          </a:bodyPr>
          <a:p>
            <a:r>
              <a:t>Role of Agentic AI in the solution</a:t>
            </a:r>
          </a:p>
        </p:txBody>
      </p:sp>
      <p:sp>
        <p:nvSpPr>
          <p:cNvPr id="92" name="TextBox 2"/>
          <p:cNvSpPr/>
          <p:nvPr/>
        </p:nvSpPr>
        <p:spPr>
          <a:xfrm>
            <a:off x="621720" y="1167480"/>
            <a:ext cx="7406280" cy="3078360"/>
          </a:xfrm>
          <a:prstGeom prst="rect">
            <a:avLst/>
          </a:prstGeom>
          <a:noFill/>
          <a:ln w="0">
            <a:noFill/>
          </a:ln>
        </p:spPr>
        <p:style>
          <a:lnRef idx="0"/>
          <a:fillRef idx="0"/>
          <a:effectRef idx="0"/>
          <a:fontRef idx="minor"/>
        </p:style>
        <p:txBody>
          <a:bodyPr lIns="90000" rIns="90000" tIns="45000" bIns="45000" anchor="t">
            <a:spAutoFit/>
          </a:bodyPr>
          <a:p>
            <a:pPr>
              <a:defRPr sz="1100">
                <a:latin typeface="Arial"/>
              </a:defRPr>
            </a:pPr>
            <a:r>
              <a:t>Role of Agentic AI in Research Agent Studio</a:t>
            </a:r>
          </a:p>
          <a:p>
            <a:pPr>
              <a:defRPr sz="1100">
                <a:latin typeface="Arial"/>
              </a:defRPr>
            </a:pPr>
          </a:p>
          <a:p>
            <a:pPr>
              <a:defRPr sz="1100">
                <a:latin typeface="Arial"/>
              </a:defRPr>
            </a:pPr>
            <a:r>
              <a:t>Agentic AI elevates the Research Agent from a passive question-answering tool into an autonomous, proactive research co-pilot. Powered by IBM watsonx.ai and IBM Granite 3.0, it coordinates four specialized agents acting in concert:</a:t>
            </a:r>
          </a:p>
          <a:p>
            <a:pPr>
              <a:defRPr sz="1100">
                <a:latin typeface="Arial"/>
              </a:defRPr>
            </a:pPr>
          </a:p>
          <a:p>
            <a:pPr>
              <a:defRPr sz="1100">
                <a:latin typeface="Arial"/>
              </a:defRPr>
            </a:pPr>
            <a:r>
              <a:t>Each agent performs a specific role—such as parsing academic preprints, constructing citation topologies, forecasting publication velocity, and synthesizing cross-paper literature reviews—while collaborating autonomously.</a:t>
            </a:r>
          </a:p>
          <a:p>
            <a:pPr>
              <a:defRPr sz="1100">
                <a:latin typeface="Arial"/>
              </a:defRPr>
            </a:pPr>
          </a:p>
          <a:p>
            <a:pPr>
              <a:defRPr sz="1100">
                <a:latin typeface="Arial"/>
              </a:defRPr>
            </a:pPr>
            <a:r>
              <a:t>Agentic AI brings deep context awareness, understanding user domain selections (e.g. Agentic AI, Quantum Computing, or Biomedical AI) to retrieve grounded evidence. It continuously adapts when new PDFs are ingested into the active graph.</a:t>
            </a:r>
          </a:p>
          <a:p>
            <a:pPr>
              <a:defRPr sz="1100">
                <a:latin typeface="Arial"/>
              </a:defRPr>
            </a:pPr>
          </a:p>
          <a:p>
            <a:pPr>
              <a:defRPr sz="1100">
                <a:latin typeface="Arial"/>
              </a:defRPr>
            </a:pPr>
            <a:r>
              <a:t>Additionally, agents communicate with each other through structured contracts, enabling automated hypothesis formulation and peer-review synthesis.</a:t>
            </a:r>
          </a:p>
          <a:p>
            <a:pPr>
              <a:defRPr sz="1100">
                <a:latin typeface="Arial"/>
              </a:defRPr>
            </a:pPr>
          </a:p>
          <a:p>
            <a:pPr>
              <a:defRPr sz="1100">
                <a:latin typeface="Arial"/>
              </a:defRPr>
            </a:pPr>
            <a:r>
              <a:t>Overall, Agentic AI makes the system proactive, goal-driven, and verifiable, acting as a tireless digital researcher that compresses weeks of manual literature review into seconds.</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Google Shape;278;p18"/>
          <p:cNvSpPr/>
          <p:nvPr/>
        </p:nvSpPr>
        <p:spPr>
          <a:xfrm>
            <a:off x="409320" y="113040"/>
            <a:ext cx="6444000" cy="703800"/>
          </a:xfrm>
          <a:prstGeom prst="rect">
            <a:avLst/>
          </a:prstGeom>
          <a:noFill/>
          <a:ln w="0">
            <a:noFill/>
          </a:ln>
        </p:spPr>
        <p:style>
          <a:lnRef idx="0"/>
          <a:fillRef idx="0"/>
          <a:effectRef idx="0"/>
          <a:fontRef idx="minor"/>
        </p:style>
        <p:txBody>
          <a:bodyPr lIns="0" rIns="0" tIns="0" bIns="0" anchor="t">
            <a:noAutofit/>
          </a:bodyPr>
          <a:p>
            <a:r>
              <a:t>Project Output Screenshot – 2D Physics Citation Topology</a:t>
            </a:r>
          </a:p>
        </p:txBody>
      </p:sp>
      <p:sp>
        <p:nvSpPr>
          <p:cNvPr id="94" name="Google Shape;280;p18"/>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p:txBody>
      </p:sp>
      <p:sp>
        <p:nvSpPr>
          <p:cNvPr id="95" name="Google Shape;281;p18"/>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p:txBody>
      </p:sp>
      <p:sp>
        <p:nvSpPr>
          <p:cNvPr id="96" name="Google Shape;282;p18"/>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p:txBody>
      </p:sp>
      <p:sp>
        <p:nvSpPr>
          <p:cNvPr id="97" name="TextBox 1"/>
          <p:cNvSpPr/>
          <p:nvPr/>
        </p:nvSpPr>
        <p:spPr>
          <a:xfrm>
            <a:off x="1379160" y="1865520"/>
            <a:ext cx="6744960" cy="699480"/>
          </a:xfrm>
          <a:prstGeom prst="rect">
            <a:avLst/>
          </a:prstGeom>
          <a:noFill/>
          <a:ln w="0">
            <a:noFill/>
          </a:ln>
        </p:spPr>
        <p:style>
          <a:lnRef idx="0"/>
          <a:fillRef idx="0"/>
          <a:effectRef idx="0"/>
          <a:fontRef idx="minor"/>
        </p:style>
        <p:txBody>
          <a:bodyPr wrap="none" lIns="90000" rIns="90000" tIns="45000" bIns="45000" anchor="t">
            <a:spAutoFit/>
          </a:bodyPr>
          <a:p>
            <a:pPr>
              <a:defRPr sz="1100">
                <a:latin typeface="Arial"/>
              </a:defRPr>
            </a:pPr>
            <a:r>
              <a:t>Interactive 2D force-directed physics graph rendering cross-paper citations, thematic clusters, node halos, and metadata cards at 60 FPS.</a:t>
            </a:r>
          </a:p>
        </p:txBody>
      </p:sp>
      <p:pic>
        <p:nvPicPr>
          <p:cNvPr id="98" name="Picture 3" descr=""/>
          <p:cNvPicPr/>
          <p:nvPr/>
        </p:nvPicPr>
        <p:blipFill>
          <a:blip r:embed="rId1"/>
          <a:stretch/>
        </p:blipFill>
        <p:spPr>
          <a:xfrm>
            <a:off x="409320" y="885600"/>
            <a:ext cx="11163600" cy="57150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Google Shape;278;p18"/>
          <p:cNvSpPr/>
          <p:nvPr/>
        </p:nvSpPr>
        <p:spPr>
          <a:xfrm>
            <a:off x="409320" y="113040"/>
            <a:ext cx="6444000" cy="703800"/>
          </a:xfrm>
          <a:prstGeom prst="rect">
            <a:avLst/>
          </a:prstGeom>
          <a:noFill/>
          <a:ln w="0">
            <a:noFill/>
          </a:ln>
        </p:spPr>
        <p:style>
          <a:lnRef idx="0"/>
          <a:fillRef idx="0"/>
          <a:effectRef idx="0"/>
          <a:fontRef idx="minor"/>
        </p:style>
        <p:txBody>
          <a:bodyPr lIns="0" rIns="0" tIns="0" bIns="0" anchor="t">
            <a:noAutofit/>
          </a:bodyPr>
          <a:p>
            <a:r>
              <a:t>Project Output Screenshot – Emerging Trajectories &amp; Velocity</a:t>
            </a:r>
          </a:p>
        </p:txBody>
      </p:sp>
      <p:sp>
        <p:nvSpPr>
          <p:cNvPr id="100" name="Google Shape;280;p18"/>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p:txBody>
      </p:sp>
      <p:sp>
        <p:nvSpPr>
          <p:cNvPr id="101" name="Google Shape;281;p18"/>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p:txBody>
      </p:sp>
      <p:sp>
        <p:nvSpPr>
          <p:cNvPr id="102" name="Google Shape;282;p18"/>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p:txBody>
      </p:sp>
      <p:sp>
        <p:nvSpPr>
          <p:cNvPr id="103" name="TextBox 1"/>
          <p:cNvSpPr/>
          <p:nvPr/>
        </p:nvSpPr>
        <p:spPr>
          <a:xfrm>
            <a:off x="1379160" y="1865520"/>
            <a:ext cx="6744960" cy="699480"/>
          </a:xfrm>
          <a:prstGeom prst="rect">
            <a:avLst/>
          </a:prstGeom>
          <a:noFill/>
          <a:ln w="0">
            <a:noFill/>
          </a:ln>
        </p:spPr>
        <p:style>
          <a:lnRef idx="0"/>
          <a:fillRef idx="0"/>
          <a:effectRef idx="0"/>
          <a:fontRef idx="minor"/>
        </p:style>
        <p:txBody>
          <a:bodyPr wrap="none" lIns="90000" rIns="90000" tIns="45000" bIns="45000" anchor="t">
            <a:spAutoFit/>
          </a:bodyPr>
          <a:p>
            <a:pPr>
              <a:defRPr sz="1100">
                <a:latin typeface="Arial"/>
              </a:defRPr>
            </a:pPr>
            <a:r>
              <a:t>Predictive modeling of 5-year academic publication momentum (2021-2026) alongside milestone catalyst paper identification.</a:t>
            </a:r>
          </a:p>
        </p:txBody>
      </p:sp>
      <p:pic>
        <p:nvPicPr>
          <p:cNvPr id="104" name="Picture 4" descr=""/>
          <p:cNvPicPr/>
          <p:nvPr/>
        </p:nvPicPr>
        <p:blipFill>
          <a:blip r:embed="rId1"/>
          <a:stretch/>
        </p:blipFill>
        <p:spPr>
          <a:xfrm>
            <a:off x="561600" y="1004400"/>
            <a:ext cx="10492920" cy="52880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Google Shape;278;p18"/>
          <p:cNvSpPr/>
          <p:nvPr/>
        </p:nvSpPr>
        <p:spPr>
          <a:xfrm>
            <a:off x="409320" y="113040"/>
            <a:ext cx="6444000" cy="703800"/>
          </a:xfrm>
          <a:prstGeom prst="rect">
            <a:avLst/>
          </a:prstGeom>
          <a:noFill/>
          <a:ln w="0">
            <a:noFill/>
          </a:ln>
        </p:spPr>
        <p:style>
          <a:lnRef idx="0"/>
          <a:fillRef idx="0"/>
          <a:effectRef idx="0"/>
          <a:fontRef idx="minor"/>
        </p:style>
        <p:txBody>
          <a:bodyPr lIns="0" rIns="0" tIns="0" bIns="0" anchor="t">
            <a:noAutofit/>
          </a:bodyPr>
          <a:p>
            <a:r>
              <a:t>Project Output Screenshot – Automated Literature Review Synthesis</a:t>
            </a:r>
          </a:p>
        </p:txBody>
      </p:sp>
      <p:sp>
        <p:nvSpPr>
          <p:cNvPr id="106" name="Google Shape;280;p18"/>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p:txBody>
      </p:sp>
      <p:sp>
        <p:nvSpPr>
          <p:cNvPr id="107" name="Google Shape;281;p18"/>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p:txBody>
      </p:sp>
      <p:sp>
        <p:nvSpPr>
          <p:cNvPr id="108" name="Google Shape;282;p18"/>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p:txBody>
      </p:sp>
      <p:sp>
        <p:nvSpPr>
          <p:cNvPr id="109" name="TextBox 1"/>
          <p:cNvSpPr/>
          <p:nvPr/>
        </p:nvSpPr>
        <p:spPr>
          <a:xfrm>
            <a:off x="1379160" y="1865520"/>
            <a:ext cx="6744960" cy="699480"/>
          </a:xfrm>
          <a:prstGeom prst="rect">
            <a:avLst/>
          </a:prstGeom>
          <a:noFill/>
          <a:ln w="0">
            <a:noFill/>
          </a:ln>
        </p:spPr>
        <p:style>
          <a:lnRef idx="0"/>
          <a:fillRef idx="0"/>
          <a:effectRef idx="0"/>
          <a:fontRef idx="minor"/>
        </p:style>
        <p:txBody>
          <a:bodyPr wrap="none" lIns="90000" rIns="90000" tIns="45000" bIns="45000" anchor="t">
            <a:spAutoFit/>
          </a:bodyPr>
          <a:p>
            <a:pPr>
              <a:defRPr sz="1100">
                <a:latin typeface="Arial"/>
              </a:defRPr>
            </a:pPr>
            <a:r>
              <a:t>Granite 3.0 multi-agent synthesis generating structured executive summaries, benchmark comparison tables, and one-click BibTeX/Markdown export.</a:t>
            </a:r>
          </a:p>
        </p:txBody>
      </p:sp>
      <p:pic>
        <p:nvPicPr>
          <p:cNvPr id="110" name="Picture 3" descr=""/>
          <p:cNvPicPr/>
          <p:nvPr/>
        </p:nvPicPr>
        <p:blipFill>
          <a:blip r:embed="rId1"/>
          <a:stretch/>
        </p:blipFill>
        <p:spPr>
          <a:xfrm>
            <a:off x="804600" y="799920"/>
            <a:ext cx="10582560" cy="594468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Box 1"/>
          <p:cNvSpPr/>
          <p:nvPr/>
        </p:nvSpPr>
        <p:spPr>
          <a:xfrm>
            <a:off x="777240" y="484560"/>
            <a:ext cx="7122960" cy="455400"/>
          </a:xfrm>
          <a:prstGeom prst="rect">
            <a:avLst/>
          </a:prstGeom>
          <a:noFill/>
          <a:ln w="0">
            <a:noFill/>
          </a:ln>
        </p:spPr>
        <p:style>
          <a:lnRef idx="0"/>
          <a:fillRef idx="0"/>
          <a:effectRef idx="0"/>
          <a:fontRef idx="minor"/>
        </p:style>
        <p:txBody>
          <a:bodyPr lIns="90000" rIns="90000" tIns="45000" bIns="45000" anchor="t">
            <a:spAutoFit/>
          </a:bodyPr>
          <a:p>
            <a:r>
              <a:t>Novelty and Uniqueness</a:t>
            </a:r>
          </a:p>
        </p:txBody>
      </p:sp>
      <p:sp>
        <p:nvSpPr>
          <p:cNvPr id="112" name="TextBox 2"/>
          <p:cNvSpPr/>
          <p:nvPr/>
        </p:nvSpPr>
        <p:spPr>
          <a:xfrm>
            <a:off x="777240" y="1207080"/>
            <a:ext cx="11301480" cy="5240880"/>
          </a:xfrm>
          <a:prstGeom prst="rect">
            <a:avLst/>
          </a:prstGeom>
          <a:noFill/>
          <a:ln w="0">
            <a:noFill/>
          </a:ln>
        </p:spPr>
        <p:style>
          <a:lnRef idx="0"/>
          <a:fillRef idx="0"/>
          <a:effectRef idx="0"/>
          <a:fontRef idx="minor"/>
        </p:style>
        <p:txBody>
          <a:bodyPr lIns="90000" rIns="90000" tIns="45000" bIns="45000" anchor="t">
            <a:spAutoFit/>
          </a:bodyPr>
          <a:p>
            <a:pPr>
              <a:defRPr sz="1100">
                <a:latin typeface="Arial"/>
              </a:defRPr>
            </a:pPr>
            <a:r>
              <a:t>The Langflow Research Agent Studio sets a new benchmark by fusing Agentic AI, real-time physics graphs, and Granite RAG into a unified scientific workspace.</a:t>
            </a:r>
          </a:p>
          <a:p>
            <a:pPr>
              <a:defRPr sz="1100">
                <a:latin typeface="Arial"/>
              </a:defRPr>
            </a:pPr>
          </a:p>
          <a:p>
            <a:pPr>
              <a:defRPr sz="1100">
                <a:latin typeface="Arial"/>
              </a:defRPr>
            </a:pPr>
            <a:r>
              <a:t>• Multi-Agent Intelligence – Four specialized collaborative agents (AST Ingestion, Topology Builder, Gap Detector, Granite Reasoner) work in concert.</a:t>
            </a:r>
          </a:p>
          <a:p>
            <a:pPr>
              <a:defRPr sz="1100">
                <a:latin typeface="Arial"/>
              </a:defRPr>
            </a:pPr>
          </a:p>
          <a:p>
            <a:pPr>
              <a:defRPr sz="1100">
                <a:latin typeface="Arial"/>
              </a:defRPr>
            </a:pPr>
            <a:r>
              <a:t>• 2D Physics Citation Topology – Interactive force-directed canvas visualizing paper clusters, connection strengths, and reference networks at 60 FPS.</a:t>
            </a:r>
          </a:p>
          <a:p>
            <a:pPr>
              <a:defRPr sz="1100">
                <a:latin typeface="Arial"/>
              </a:defRPr>
            </a:pPr>
          </a:p>
          <a:p>
            <a:pPr>
              <a:defRPr sz="1100">
                <a:latin typeface="Arial"/>
              </a:defRPr>
            </a:pPr>
            <a:r>
              <a:t>• Algorithmic Citation Gap Detection – Automatically identifies literature white spaces, calculates Opportunity Scores (0-100), and drafts testable hypotheses.</a:t>
            </a:r>
          </a:p>
          <a:p>
            <a:pPr>
              <a:defRPr sz="1100">
                <a:latin typeface="Arial"/>
              </a:defRPr>
            </a:pPr>
          </a:p>
          <a:p>
            <a:pPr>
              <a:defRPr sz="1100">
                <a:latin typeface="Arial"/>
              </a:defRPr>
            </a:pPr>
            <a:r>
              <a:t>• Publication Velocity Forecasting – Empirical modeling of 5-year academic publication momentum (2021-2026) across domain corpora.</a:t>
            </a:r>
          </a:p>
          <a:p>
            <a:pPr>
              <a:defRPr sz="1100">
                <a:latin typeface="Arial"/>
              </a:defRPr>
            </a:pPr>
          </a:p>
          <a:p>
            <a:pPr>
              <a:defRPr sz="1100">
                <a:latin typeface="Arial"/>
              </a:defRPr>
            </a:pPr>
            <a:r>
              <a:t>• Dual-Engine Live AI (Groq LPU + IBM Granite) – Sub-second inference (~500 T/s) combined with enterprise reasoning and zero-config offline fallback.</a:t>
            </a:r>
          </a:p>
          <a:p>
            <a:pPr>
              <a:defRPr sz="1100">
                <a:latin typeface="Arial"/>
              </a:defRPr>
            </a:pPr>
          </a:p>
          <a:p>
            <a:pPr>
              <a:defRPr sz="1100">
                <a:latin typeface="Arial"/>
              </a:defRPr>
            </a:pPr>
            <a:r>
              <a:t>• Iconic Claude Terracotta Aesthetics – Warm paper cream background (#FAF9F5), terracotta orange accents, and slide-over paper detail drawer.</a:t>
            </a:r>
          </a:p>
          <a:p>
            <a:pPr>
              <a:defRPr sz="1100">
                <a:latin typeface="Arial"/>
              </a:defRPr>
            </a:pPr>
          </a:p>
          <a:p>
            <a:pPr>
              <a:defRPr sz="1100">
                <a:latin typeface="Arial"/>
              </a:defRPr>
            </a:pPr>
            <a:r>
              <a:t>• Enterprise-Ready Export – Formats citations into publication-standard BibTeX (.bib) and comprehensive Markdown (.md) with verified attribution.</a:t>
            </a: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Google Shape;278;p18"/>
          <p:cNvSpPr/>
          <p:nvPr/>
        </p:nvSpPr>
        <p:spPr>
          <a:xfrm>
            <a:off x="1218600" y="420840"/>
            <a:ext cx="6444000" cy="703800"/>
          </a:xfrm>
          <a:prstGeom prst="rect">
            <a:avLst/>
          </a:prstGeom>
          <a:noFill/>
          <a:ln w="0">
            <a:noFill/>
          </a:ln>
        </p:spPr>
        <p:style>
          <a:lnRef idx="0"/>
          <a:fillRef idx="0"/>
          <a:effectRef idx="0"/>
          <a:fontRef idx="minor"/>
        </p:style>
        <p:txBody>
          <a:bodyPr lIns="0" rIns="0" tIns="0" bIns="0" anchor="t">
            <a:noAutofit/>
          </a:bodyPr>
          <a:p>
            <a:r>
              <a:t>Git Hub Link</a:t>
            </a:r>
          </a:p>
        </p:txBody>
      </p:sp>
      <p:sp>
        <p:nvSpPr>
          <p:cNvPr id="114" name="Google Shape;279;p18"/>
          <p:cNvSpPr/>
          <p:nvPr/>
        </p:nvSpPr>
        <p:spPr>
          <a:xfrm>
            <a:off x="1218600" y="1153800"/>
            <a:ext cx="9214200" cy="4276800"/>
          </a:xfrm>
          <a:prstGeom prst="rect">
            <a:avLst/>
          </a:prstGeom>
          <a:noFill/>
          <a:ln w="0">
            <a:noFill/>
          </a:ln>
        </p:spPr>
        <p:style>
          <a:lnRef idx="0"/>
          <a:fillRef idx="0"/>
          <a:effectRef idx="0"/>
          <a:fontRef idx="minor"/>
        </p:style>
        <p:txBody>
          <a:bodyPr lIns="0" rIns="0" tIns="0" bIns="0" anchor="t">
            <a:noAutofit/>
          </a:bodyPr>
          <a:p>
            <a:pPr>
              <a:defRPr sz="1200">
                <a:latin typeface="Arial"/>
              </a:defRPr>
            </a:pPr>
            <a:r>
              <a:t>GitHub Repository &amp; Submission Deliverables:</a:t>
            </a:r>
          </a:p>
          <a:p>
            <a:pPr>
              <a:defRPr sz="1200">
                <a:latin typeface="Arial"/>
              </a:defRPr>
            </a:pPr>
          </a:p>
          <a:p>
            <a:pPr>
              <a:defRPr sz="1200">
                <a:latin typeface="Arial"/>
              </a:defRPr>
            </a:pPr>
            <a:r>
              <a:t>• Public GitHub Repository URL:</a:t>
            </a:r>
          </a:p>
          <a:p>
            <a:pPr>
              <a:defRPr sz="1200">
                <a:latin typeface="Arial"/>
              </a:defRPr>
            </a:pPr>
            <a:r>
              <a:t>  https://github.com/VAIBHAV7848/IBM_WORKSHOP</a:t>
            </a:r>
          </a:p>
          <a:p>
            <a:pPr>
              <a:defRPr sz="1200">
                <a:latin typeface="Arial"/>
              </a:defRPr>
            </a:pPr>
          </a:p>
          <a:p>
            <a:pPr>
              <a:defRPr sz="1200">
                <a:latin typeface="Arial"/>
              </a:defRPr>
            </a:pPr>
            <a:r>
              <a:t>• Author: Vaibhav Chavanpatil (GitHub: @VAIBHAV7848)</a:t>
            </a:r>
          </a:p>
          <a:p>
            <a:pPr>
              <a:defRPr sz="1200">
                <a:latin typeface="Arial"/>
              </a:defRPr>
            </a:pPr>
            <a:r>
              <a:t>• Project: Problem Statement No. 7 – Research Agent Studio</a:t>
            </a:r>
          </a:p>
          <a:p>
            <a:pPr>
              <a:defRPr sz="1200">
                <a:latin typeface="Arial"/>
              </a:defRPr>
            </a:pPr>
          </a:p>
          <a:p>
            <a:pPr>
              <a:defRPr sz="1200">
                <a:latin typeface="Arial"/>
              </a:defRPr>
            </a:pPr>
            <a:r>
              <a:t>Uploaded Deliverables in Repository:</a:t>
            </a:r>
          </a:p>
          <a:p>
            <a:pPr>
              <a:defRPr sz="1200">
                <a:latin typeface="Arial"/>
              </a:defRPr>
            </a:pPr>
            <a:r>
              <a:t>1) Complete Next.js &amp; IBM Granite Multi-Agent Source Code (components, physics engine, API routes)</a:t>
            </a:r>
          </a:p>
          <a:p>
            <a:pPr>
              <a:defRPr sz="1200">
                <a:latin typeface="Arial"/>
              </a:defRPr>
            </a:pPr>
            <a:r>
              <a:t>2) 7 Problem statement on Langflow 2026-2027.pdf (Official Challenge Documentation)</a:t>
            </a:r>
          </a:p>
          <a:p>
            <a:pPr>
              <a:defRPr sz="1200">
                <a:latin typeface="Arial"/>
              </a:defRPr>
            </a:pPr>
            <a:r>
              <a:t>3) Adv GLE_IBM BOB_Project Submission Presentation.pptx (Complete Presentation Deck)</a:t>
            </a:r>
          </a:p>
          <a:p>
            <a:pPr>
              <a:defRPr sz="1200">
                <a:latin typeface="Arial"/>
              </a:defRPr>
            </a:pPr>
            <a:r>
              <a:t>4) Live Groq LPU Integration, Verification Suite, and High-Res Demo Screenshots</a:t>
            </a:r>
          </a:p>
          <a:p>
            <a:pPr>
              <a:defRPr sz="1200">
                <a:latin typeface="Arial"/>
              </a:defRPr>
            </a:pPr>
            <a:r>
              <a:t>5) Comprehensive Setup &amp; Quick Start Guide with Zero-Config Offline Fallback</a:t>
            </a:r>
          </a:p>
        </p:txBody>
      </p:sp>
      <p:sp>
        <p:nvSpPr>
          <p:cNvPr id="115" name="Google Shape;280;p18"/>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p:txBody>
      </p:sp>
      <p:sp>
        <p:nvSpPr>
          <p:cNvPr id="116" name="Google Shape;281;p18"/>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p:txBody>
      </p:sp>
      <p:sp>
        <p:nvSpPr>
          <p:cNvPr id="117" name="Google Shape;282;p18"/>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Google Shape;278;p18"/>
          <p:cNvSpPr/>
          <p:nvPr/>
        </p:nvSpPr>
        <p:spPr>
          <a:xfrm>
            <a:off x="1218600" y="420840"/>
            <a:ext cx="6444000" cy="703800"/>
          </a:xfrm>
          <a:prstGeom prst="rect">
            <a:avLst/>
          </a:prstGeom>
          <a:noFill/>
          <a:ln w="0">
            <a:noFill/>
          </a:ln>
        </p:spPr>
        <p:style>
          <a:lnRef idx="0"/>
          <a:fillRef idx="0"/>
          <a:effectRef idx="0"/>
          <a:fontRef idx="minor"/>
        </p:style>
        <p:txBody>
          <a:bodyPr lIns="0" rIns="0" tIns="0" bIns="0" anchor="t">
            <a:noAutofit/>
          </a:bodyPr>
          <a:p>
            <a:r>
              <a:t>Future Scope</a:t>
            </a:r>
          </a:p>
        </p:txBody>
      </p:sp>
      <p:sp>
        <p:nvSpPr>
          <p:cNvPr id="119" name="Google Shape;279;p18"/>
          <p:cNvSpPr/>
          <p:nvPr/>
        </p:nvSpPr>
        <p:spPr>
          <a:xfrm>
            <a:off x="1218600" y="1221840"/>
            <a:ext cx="9214200" cy="4276800"/>
          </a:xfrm>
          <a:prstGeom prst="rect">
            <a:avLst/>
          </a:prstGeom>
          <a:noFill/>
          <a:ln w="0">
            <a:noFill/>
          </a:ln>
        </p:spPr>
        <p:style>
          <a:lnRef idx="0"/>
          <a:fillRef idx="0"/>
          <a:effectRef idx="0"/>
          <a:fontRef idx="minor"/>
        </p:style>
        <p:txBody>
          <a:bodyPr lIns="0" rIns="0" tIns="0" bIns="0" anchor="t">
            <a:noAutofit/>
          </a:bodyPr>
          <a:p>
            <a:pPr>
              <a:defRPr sz="1100">
                <a:latin typeface="Arial"/>
              </a:defRPr>
            </a:pPr>
            <a:r>
              <a:t>1. Live Academic API Synchronization (arXiv, Semantic Scholar, CrossRef) –</a:t>
            </a:r>
          </a:p>
          <a:p>
            <a:pPr>
              <a:defRPr sz="1100">
                <a:latin typeface="Arial"/>
              </a:defRPr>
            </a:pPr>
            <a:r>
              <a:t>The system can be integrated with arXiv and Semantic Scholar APIs to continuously ingest newly published preprints in real time, automatically updating citation topology graphs and velocity trends as new research drops.</a:t>
            </a:r>
          </a:p>
          <a:p>
            <a:pPr>
              <a:defRPr sz="1100">
                <a:latin typeface="Arial"/>
              </a:defRPr>
            </a:pPr>
          </a:p>
          <a:p>
            <a:pPr>
              <a:defRPr sz="1100">
                <a:latin typeface="Arial"/>
              </a:defRPr>
            </a:pPr>
            <a:r>
              <a:t>2. Graph Neural Network (GNN) Link Prediction –</a:t>
            </a:r>
          </a:p>
          <a:p>
            <a:pPr>
              <a:defRPr sz="1100">
                <a:latin typeface="Arial"/>
              </a:defRPr>
            </a:pPr>
            <a:r>
              <a:t>Deploying inductive Graph Convolutional Networks (GCN) on top of the citation topology to predict emerging cross-disciplinary breakthroughs and co-authorship opportunities before they appear in mainstream venues.</a:t>
            </a:r>
          </a:p>
          <a:p>
            <a:pPr>
              <a:defRPr sz="1100">
                <a:latin typeface="Arial"/>
              </a:defRPr>
            </a:pPr>
          </a:p>
          <a:p>
            <a:pPr>
              <a:defRPr sz="1100">
                <a:latin typeface="Arial"/>
              </a:defRPr>
            </a:pPr>
            <a:r>
              <a:t>3. Multi-Modal LaTeX Formula &amp; Benchmark Extraction –</a:t>
            </a:r>
          </a:p>
          <a:p>
            <a:pPr>
              <a:defRPr sz="1100">
                <a:latin typeface="Arial"/>
              </a:defRPr>
            </a:pPr>
            <a:r>
              <a:t>Enhancing the AST parser with Vision-Language Models to extract mathematical equations, loss functions, and benchmark tables directly into computational notebooks.</a:t>
            </a:r>
          </a:p>
          <a:p>
            <a:pPr>
              <a:defRPr sz="1100">
                <a:latin typeface="Arial"/>
              </a:defRPr>
            </a:pPr>
          </a:p>
          <a:p>
            <a:pPr>
              <a:defRPr sz="1100">
                <a:latin typeface="Arial"/>
              </a:defRPr>
            </a:pPr>
            <a:r>
              <a:t>4. Federated Multi-Institution Knowledge Mesh –</a:t>
            </a:r>
          </a:p>
          <a:p>
            <a:pPr>
              <a:defRPr sz="1100">
                <a:latin typeface="Arial"/>
              </a:defRPr>
            </a:pPr>
            <a:r>
              <a:t>Enabling universities and research labs to host decentralized citation nodes while preserving proprietary preprint confidentiality through IBM Granite Guardian safety guardrails.</a:t>
            </a:r>
          </a:p>
        </p:txBody>
      </p:sp>
      <p:sp>
        <p:nvSpPr>
          <p:cNvPr id="120" name="Google Shape;280;p18"/>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p:txBody>
      </p:sp>
      <p:sp>
        <p:nvSpPr>
          <p:cNvPr id="121" name="Google Shape;281;p18"/>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p:txBody>
      </p:sp>
      <p:sp>
        <p:nvSpPr>
          <p:cNvPr id="122" name="Google Shape;282;p18"/>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Picture 3" descr="A screenshot of a computer&#10;&#10;AI-generated content may be incorrect."/>
          <p:cNvPicPr/>
          <p:nvPr/>
        </p:nvPicPr>
        <p:blipFill>
          <a:blip r:embed="rId1"/>
          <a:stretch/>
        </p:blipFill>
        <p:spPr>
          <a:xfrm>
            <a:off x="1140840" y="1485720"/>
            <a:ext cx="6911280" cy="4520520"/>
          </a:xfrm>
          <a:prstGeom prst="rect">
            <a:avLst/>
          </a:prstGeom>
          <a:ln w="0">
            <a:noFill/>
          </a:ln>
        </p:spPr>
      </p:pic>
      <p:sp>
        <p:nvSpPr>
          <p:cNvPr id="124" name="TextBox 5"/>
          <p:cNvSpPr/>
          <p:nvPr/>
        </p:nvSpPr>
        <p:spPr>
          <a:xfrm>
            <a:off x="327960" y="207360"/>
            <a:ext cx="6095520" cy="67032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1" lang="en-US" sz="2400" spc="-1" strike="noStrike">
                <a:solidFill>
                  <a:srgbClr val="000000"/>
                </a:solidFill>
                <a:latin typeface="Arial"/>
                <a:ea typeface="Arial"/>
              </a:rPr>
              <a:t>Certificates Earned:</a:t>
            </a:r>
            <a:endParaRPr b="0" lang="en-US" sz="2400" spc="-1" strike="noStrike">
              <a:solidFill>
                <a:srgbClr val="000000"/>
              </a:solidFill>
              <a:latin typeface="Arial"/>
            </a:endParaRPr>
          </a:p>
          <a:p>
            <a:pPr algn="ctr">
              <a:lnSpc>
                <a:spcPct val="100000"/>
              </a:lnSpc>
            </a:pPr>
            <a:endParaRPr b="0" lang="en-US" sz="1400" spc="-1" strike="noStrike">
              <a:solidFill>
                <a:srgbClr val="000000"/>
              </a:solidFill>
              <a:latin typeface="Arial"/>
            </a:endParaRPr>
          </a:p>
        </p:txBody>
      </p:sp>
      <p:sp>
        <p:nvSpPr>
          <p:cNvPr id="125" name="TextBox 2"/>
          <p:cNvSpPr/>
          <p:nvPr/>
        </p:nvSpPr>
        <p:spPr>
          <a:xfrm>
            <a:off x="551880" y="690120"/>
            <a:ext cx="6389640" cy="518040"/>
          </a:xfrm>
          <a:prstGeom prst="rect">
            <a:avLst/>
          </a:prstGeom>
          <a:noFill/>
          <a:ln w="0">
            <a:noFill/>
          </a:ln>
        </p:spPr>
        <p:style>
          <a:lnRef idx="0"/>
          <a:fillRef idx="0"/>
          <a:effectRef idx="0"/>
          <a:fontRef idx="minor"/>
        </p:style>
        <p:txBody>
          <a:bodyPr numCol="1" spcCol="0" horzOverflow="overflow" anchor="t">
            <a:spAutoFit/>
          </a:bodyPr>
          <a:p>
            <a:pPr>
              <a:defRPr sz="1400" b="1">
                <a:latin typeface="Arial"/>
              </a:defRPr>
            </a:pPr>
            <a:r>
              <a:t>IBM SkillsBuild &amp; Credly Verified Credentials</a:t>
            </a:r>
          </a:p>
          <a:p>
            <a:pPr>
              <a:defRPr sz="1400" b="1">
                <a:latin typeface="Arial"/>
              </a:defRPr>
            </a:pPr>
            <a:r>
              <a:t>Student: Vaibhav Chavanpatil</a:t>
            </a: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Picture 3" descr="A certificate with red text&#10;&#10;AI-generated content may be incorrect."/>
          <p:cNvPicPr/>
          <p:nvPr/>
        </p:nvPicPr>
        <p:blipFill>
          <a:blip r:embed="rId1"/>
          <a:srcRect l="0" t="0" r="177" b="-274"/>
          <a:stretch/>
        </p:blipFill>
        <p:spPr>
          <a:xfrm>
            <a:off x="2512800" y="1712520"/>
            <a:ext cx="7177320" cy="4658040"/>
          </a:xfrm>
          <a:prstGeom prst="rect">
            <a:avLst/>
          </a:prstGeom>
          <a:ln w="0">
            <a:noFill/>
          </a:ln>
        </p:spPr>
      </p:pic>
      <p:sp>
        <p:nvSpPr>
          <p:cNvPr id="127" name="TextBox 4"/>
          <p:cNvSpPr/>
          <p:nvPr/>
        </p:nvSpPr>
        <p:spPr>
          <a:xfrm>
            <a:off x="176760" y="226440"/>
            <a:ext cx="6095520" cy="67032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1" lang="en-US" sz="2400" spc="-1" strike="noStrike">
                <a:solidFill>
                  <a:srgbClr val="000000"/>
                </a:solidFill>
                <a:latin typeface="Arial"/>
                <a:ea typeface="Arial"/>
              </a:rPr>
              <a:t>Certificates Earned:</a:t>
            </a:r>
            <a:r>
              <a:rPr b="0" lang="en-US" sz="2400" spc="-1" strike="noStrike">
                <a:solidFill>
                  <a:srgbClr val="000000"/>
                </a:solidFill>
                <a:latin typeface="Arial"/>
                <a:ea typeface="Arial"/>
              </a:rPr>
              <a:t>​</a:t>
            </a:r>
            <a:endParaRPr b="0" lang="en-US" sz="2400" spc="-1" strike="noStrike">
              <a:solidFill>
                <a:srgbClr val="000000"/>
              </a:solidFill>
              <a:latin typeface="Arial"/>
            </a:endParaRPr>
          </a:p>
          <a:p>
            <a:pPr algn="ctr">
              <a:lnSpc>
                <a:spcPct val="100000"/>
              </a:lnSpc>
            </a:pPr>
            <a:endParaRPr b="0" lang="en-US" sz="1400" spc="-1" strike="noStrike">
              <a:solidFill>
                <a:srgbClr val="000000"/>
              </a:solidFill>
              <a:latin typeface="Arial"/>
            </a:endParaRPr>
          </a:p>
        </p:txBody>
      </p:sp>
      <p:sp>
        <p:nvSpPr>
          <p:cNvPr id="128" name="TextBox 5"/>
          <p:cNvSpPr/>
          <p:nvPr/>
        </p:nvSpPr>
        <p:spPr>
          <a:xfrm>
            <a:off x="496800" y="800640"/>
            <a:ext cx="5437440" cy="396000"/>
          </a:xfrm>
          <a:prstGeom prst="rect">
            <a:avLst/>
          </a:prstGeom>
          <a:noFill/>
          <a:ln w="0">
            <a:noFill/>
          </a:ln>
        </p:spPr>
        <p:style>
          <a:lnRef idx="0"/>
          <a:fillRef idx="0"/>
          <a:effectRef idx="0"/>
          <a:fontRef idx="minor"/>
        </p:style>
        <p:txBody>
          <a:bodyPr numCol="1" spcCol="0" horzOverflow="overflow" anchor="t">
            <a:spAutoFit/>
          </a:bodyPr>
          <a:p>
            <a:pPr>
              <a:defRPr sz="1400" b="1">
                <a:latin typeface="Arial"/>
              </a:defRPr>
            </a:pPr>
            <a:r>
              <a:t>IBM BOB Workshop Participation Certificate</a:t>
            </a:r>
          </a:p>
          <a:p>
            <a:pPr>
              <a:defRPr sz="1400" b="1">
                <a:latin typeface="Arial"/>
              </a:defRPr>
            </a:pPr>
            <a:r>
              <a:t>Student: Vaibhav Chavanpatil</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9" name="Google Shape;310;p20" descr=""/>
          <p:cNvPicPr/>
          <p:nvPr/>
        </p:nvPicPr>
        <p:blipFill>
          <a:blip r:embed="rId1"/>
          <a:stretch/>
        </p:blipFill>
        <p:spPr>
          <a:xfrm>
            <a:off x="0" y="2190240"/>
            <a:ext cx="12191760" cy="24771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en-US</dc:language>
  <cp:lastModifiedBy/>
  <dcterms:modified xsi:type="dcterms:W3CDTF">2026-09-23T11:56:26Z</dcterms:modified>
  <cp:revision>3</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Widescreen</vt:lpwstr>
  </property>
  <property fmtid="{D5CDD505-2E9C-101B-9397-08002B2CF9AE}" pid="4" name="Slides">
    <vt:i4>20</vt:i4>
  </property>
</Properties>
</file>